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9144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66360"/>
            <a:ext cx="12191695" cy="169164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60120"/>
            <a:ext cx="1371600" cy="128016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6070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1" i="0">
                <a:solidFill>
                  <a:srgbClr val="8FD3D4"/>
                </a:solidFill>
                <a:latin typeface="Calibri"/>
              </a:rPr>
              <a:t>GROUP 2  •  HEALTH SERVICES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98480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5000" b="1" i="0">
                <a:solidFill>
                  <a:srgbClr val="FFFFFF"/>
                </a:solidFill>
                <a:latin typeface="Calibri"/>
              </a:rPr>
              <a:t>Human Resource Management</a:t>
            </a:r>
          </a:p>
          <a:p>
            <a:r>
              <a:rPr sz="5000" b="1" i="0">
                <a:solidFill>
                  <a:srgbClr val="0F8B8D"/>
                </a:solidFill>
                <a:latin typeface="Calibri"/>
              </a:rPr>
              <a:t>in Health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60704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0" i="0">
                <a:solidFill>
                  <a:srgbClr val="C9E4E4"/>
                </a:solidFill>
                <a:latin typeface="Calibri"/>
              </a:rPr>
              <a:t>Recruitment • Retention • Staffing • Appraisal • Training &amp; Career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11887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700" b="0" i="1">
                <a:solidFill>
                  <a:srgbClr val="FFFFFF"/>
                </a:solidFill>
                <a:latin typeface="Calibri"/>
              </a:rPr>
              <a:t>Using mental health nursing in Rwanda as a real-world example within health services</a:t>
            </a:r>
          </a:p>
          <a:p>
            <a:r>
              <a:rPr sz="1500" b="1" i="0">
                <a:solidFill>
                  <a:srgbClr val="8FD3D4"/>
                </a:solidFill>
                <a:latin typeface="Calibri"/>
              </a:rPr>
              <a:t>Class Presentation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1.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What Is Resource Management in Healthcare?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24712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0" i="0">
                <a:solidFill>
                  <a:srgbClr val="4A5159"/>
                </a:solidFill>
                <a:latin typeface="Calibri"/>
              </a:rPr>
              <a:t>It means planning, sharing out, and keeping track of everything a health facility needs to care for patients well — so nothing is wasted and care never stops.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2697480" cy="31089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2697480" cy="6400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26974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1. Human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337560"/>
            <a:ext cx="233172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The people who provide care: nurses, doctors, and support staff.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64992" y="2514600"/>
            <a:ext cx="2697480" cy="31089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64992" y="2514600"/>
            <a:ext cx="2697480" cy="64008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2514600"/>
            <a:ext cx="26974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2. Financial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337560"/>
            <a:ext cx="233172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The money: budgets, funds, and health-insurance income (Mutuelle de Santé).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2514600"/>
            <a:ext cx="2697480" cy="31089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2514600"/>
            <a:ext cx="2697480" cy="64008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27064" y="2514600"/>
            <a:ext cx="26974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3. Physical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3337560"/>
            <a:ext cx="233172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The things: buildings, beds, medicines, tools, and supplies.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2514600"/>
            <a:ext cx="2697480" cy="31089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2514600"/>
            <a:ext cx="2697480" cy="6400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89136" y="2514600"/>
            <a:ext cx="26974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4. Information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2016" y="3337560"/>
            <a:ext cx="2331720" cy="2103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The records: patient files, electronic records, and clinical guidelines.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1.2 – 1.3  HUMAN RESOURCE MANAGEMENT (HRM)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What HRM Is &amp; Why It Matters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5074920" cy="44805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128016" cy="448056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91640"/>
            <a:ext cx="45720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200" b="1" i="0">
                <a:solidFill>
                  <a:srgbClr val="0B2E4F"/>
                </a:solidFill>
                <a:latin typeface="Calibri"/>
              </a:rPr>
              <a:t>What is HRM?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4572000" cy="3566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HRM means hiring the right staff, then supporting and helping them grow.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In health services, it focuses on the people who care for patients.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Good staff management directly improves patient safety and quality of care.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554480"/>
            <a:ext cx="57607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200" b="1" i="0">
                <a:solidFill>
                  <a:srgbClr val="0B2E4F"/>
                </a:solidFill>
                <a:latin typeface="Calibri"/>
              </a:rPr>
              <a:t>Why it matters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2194560"/>
            <a:ext cx="58064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52160" y="2194560"/>
            <a:ext cx="91440" cy="10972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2304288"/>
            <a:ext cx="548640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A6366"/>
                </a:solidFill>
                <a:latin typeface="Calibri"/>
              </a:rPr>
              <a:t>Fair staffing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724912"/>
            <a:ext cx="548640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500" b="0" i="0">
                <a:solidFill>
                  <a:srgbClr val="4A5159"/>
                </a:solidFill>
                <a:latin typeface="Calibri"/>
              </a:rPr>
              <a:t>Enough trained staff in both city and rural hospitals.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3401568"/>
            <a:ext cx="58064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3401568"/>
            <a:ext cx="91440" cy="10972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0760" y="3511296"/>
            <a:ext cx="548640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A6366"/>
                </a:solidFill>
                <a:latin typeface="Calibri"/>
              </a:rPr>
              <a:t>Less burnout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931920"/>
            <a:ext cx="548640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500" b="0" i="0">
                <a:solidFill>
                  <a:srgbClr val="4A5159"/>
                </a:solidFill>
                <a:latin typeface="Calibri"/>
              </a:rPr>
              <a:t>Protects staff from stress and exhaustion at 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0" y="4608576"/>
            <a:ext cx="58064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52160" y="4608576"/>
            <a:ext cx="91440" cy="10972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4718304"/>
            <a:ext cx="548640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A6366"/>
                </a:solidFill>
                <a:latin typeface="Calibri"/>
              </a:rPr>
              <a:t>Safe, quality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5138928"/>
            <a:ext cx="5486400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500" b="0" i="0">
                <a:solidFill>
                  <a:srgbClr val="4A5159"/>
                </a:solidFill>
                <a:latin typeface="Calibri"/>
              </a:rPr>
              <a:t>Keeps everyone to the same professional standards.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2.1  RECRUITMENT &amp;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How Health Facilities Hire Staff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2471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0" i="0">
                <a:solidFill>
                  <a:srgbClr val="4A5159"/>
                </a:solidFill>
                <a:latin typeface="Calibri"/>
              </a:rPr>
              <a:t>Recruitment means finding good candidates. Selection means choosing the best one. In Rwanda this follows official public-service steps: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" y="2103120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2103120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Identify the need &amp; declare the vacancy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624328"/>
            <a:ext cx="457200" cy="457200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61288" y="2624328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624328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Advertise the job to the public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145536"/>
            <a:ext cx="457200" cy="4572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61288" y="3145536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45536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Screen applications &amp; make a shortlist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666744"/>
            <a:ext cx="457200" cy="457200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61288" y="3666744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666744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Written exam (professional knowledge)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4187952"/>
            <a:ext cx="457200" cy="4572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61288" y="4187952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4187952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Interview (skills, communication, ethics)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4709160"/>
            <a:ext cx="457200" cy="457200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1288" y="4709160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4709160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Verify the professional licence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30368"/>
            <a:ext cx="457200" cy="45720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61288" y="5230368"/>
            <a:ext cx="5852160" cy="475488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0" y="5230368"/>
            <a:ext cx="5577840" cy="47548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0" i="0">
                <a:solidFill>
                  <a:srgbClr val="1F262D"/>
                </a:solidFill>
                <a:latin typeface="Calibri"/>
              </a:rPr>
              <a:t>Appoint, welcome &amp; orient the new staff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20" y="2103120"/>
            <a:ext cx="4297680" cy="3520440"/>
          </a:xfrm>
          <a:prstGeom prst="rect">
            <a:avLst/>
          </a:prstGeom>
          <a:solidFill>
            <a:srgbClr val="0B2E4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60920" y="2103120"/>
            <a:ext cx="4297680" cy="59436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20" y="2103120"/>
            <a:ext cx="429768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Choose on merit — check for: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880360"/>
            <a:ext cx="3886200" cy="2743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6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E8F3F3"/>
                </a:solidFill>
                <a:latin typeface="Calibri"/>
              </a:rPr>
              <a:t>The right qualifications (diploma or degree).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6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E8F3F3"/>
                </a:solidFill>
                <a:latin typeface="Calibri"/>
              </a:rPr>
              <a:t>A valid, active professional licence.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6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E8F3F3"/>
                </a:solidFill>
                <a:latin typeface="Calibri"/>
              </a:rPr>
              <a:t>Real practical and communication skills.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2.2  KEEPING GOOD STAFF (RETENTION)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How to Keep Skilled Staff &amp; Reduce Turnover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2471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0" i="0">
                <a:solidFill>
                  <a:srgbClr val="4A5159"/>
                </a:solidFill>
                <a:latin typeface="Calibri"/>
              </a:rPr>
              <a:t>When staff leave often, care suffers and remaining staff are overloaded. These four approaches help keep them: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965960"/>
          <a:ext cx="1115568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566160"/>
                <a:gridCol w="484632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128016" marR="91440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marL="128016" marR="91440" marT="36576" marB="36576" anchor="ctr"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128016" marR="91440" marT="36576" marB="36576" anchor="ctr">
                    <a:solidFill>
                      <a:srgbClr val="0B2E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A6366"/>
                          </a:solidFill>
                          <a:latin typeface="Calibri"/>
                        </a:rPr>
                        <a:t>Money rewards</a:t>
                      </a:r>
                    </a:p>
                  </a:txBody>
                  <a:tcPr marL="128016" marR="91440" marT="36576" marB="36576"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Extra pay for hard or rural postings</a:t>
                      </a:r>
                    </a:p>
                  </a:txBody>
                  <a:tcPr marL="128016" marR="91440" marT="36576" marB="36576"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Allowances plus performance-based pay.</a:t>
                      </a:r>
                    </a:p>
                  </a:txBody>
                  <a:tcPr marL="128016" marR="91440" marT="36576" marB="36576" anchor="ctr">
                    <a:solidFill>
                      <a:srgbClr val="F5F9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A6366"/>
                          </a:solidFill>
                          <a:latin typeface="Calibri"/>
                        </a:rPr>
                        <a:t>Career growth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Help staff study further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Sponsor diploma-to-degree upgrades.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A6366"/>
                          </a:solidFill>
                          <a:latin typeface="Calibri"/>
                        </a:rPr>
                        <a:t>Good workplace</a:t>
                      </a:r>
                    </a:p>
                  </a:txBody>
                  <a:tcPr marL="128016" marR="91440" marT="36576" marB="36576"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Safe tools &amp; fair schedules</a:t>
                      </a:r>
                    </a:p>
                  </a:txBody>
                  <a:tcPr marL="128016" marR="91440" marT="36576" marB="36576" anchor="ctr">
                    <a:solidFill>
                      <a:srgbClr val="F5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Enough supplies and manageable shifts.</a:t>
                      </a:r>
                    </a:p>
                  </a:txBody>
                  <a:tcPr marL="128016" marR="91440" marT="36576" marB="36576" anchor="ctr">
                    <a:solidFill>
                      <a:srgbClr val="F5F9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A6366"/>
                          </a:solidFill>
                          <a:latin typeface="Calibri"/>
                        </a:rPr>
                        <a:t>Emotional support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Care for staff well-being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0" i="0">
                          <a:solidFill>
                            <a:srgbClr val="1F262D"/>
                          </a:solidFill>
                          <a:latin typeface="Calibri"/>
                        </a:rPr>
                        <a:t>Peer support and counselling after hard cases.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2.3  STAFFING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The WISN Tool: Right Staff, Right 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24712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0" i="0">
                <a:solidFill>
                  <a:srgbClr val="4A5159"/>
                </a:solidFill>
                <a:latin typeface="Calibri"/>
              </a:rPr>
              <a:t>Staffing allocation means putting the right number of staff where patients need them most. The WHO's WISN tool works this out using three things: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3566160" cy="224028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560320"/>
            <a:ext cx="3566160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80360"/>
            <a:ext cx="3108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1" i="0">
                <a:solidFill>
                  <a:srgbClr val="0B2E4F"/>
                </a:solidFill>
                <a:latin typeface="Calibri"/>
              </a:rPr>
              <a:t>How busy the unit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The daily number of patients and emergencies.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560320"/>
            <a:ext cx="3566160" cy="224028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560320"/>
            <a:ext cx="3566160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2880360"/>
            <a:ext cx="3108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1" i="0">
                <a:solidFill>
                  <a:srgbClr val="0B2E4F"/>
                </a:solidFill>
                <a:latin typeface="Calibri"/>
              </a:rPr>
              <a:t>Time per 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703320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How long each care task should take.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560320"/>
            <a:ext cx="3566160" cy="224028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2560320"/>
            <a:ext cx="3566160" cy="10972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880360"/>
            <a:ext cx="310896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1" i="0">
                <a:solidFill>
                  <a:srgbClr val="0B2E4F"/>
                </a:solidFill>
                <a:latin typeface="Calibri"/>
              </a:rPr>
              <a:t>Time staff actually have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703320"/>
            <a:ext cx="310896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600" b="0" i="0">
                <a:solidFill>
                  <a:srgbClr val="4A5159"/>
                </a:solidFill>
                <a:latin typeface="Calibri"/>
              </a:rPr>
              <a:t>Working time left after leave, holidays and training.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074920"/>
            <a:ext cx="10881360" cy="86868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10332720" cy="8686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Using WISN stops both overwork and understaffing during busy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2.4  JOB DESCRIPTIONS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What a Clear Job Description Contains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0" i="0">
                <a:solidFill>
                  <a:srgbClr val="4A5159"/>
                </a:solidFill>
                <a:latin typeface="Calibri"/>
              </a:rPr>
              <a:t>A job description is a written list of what a role does, who it reports to, and what it needs. It prevents confusion and guides staff appraisal.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91440" cy="6858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3317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Job title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23317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331720"/>
            <a:ext cx="91440" cy="6858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23317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Department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3317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331720"/>
            <a:ext cx="91440" cy="68580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3317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Reports 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23317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2331720"/>
            <a:ext cx="91440" cy="6858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5752" y="23317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Location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246120"/>
            <a:ext cx="91440" cy="6858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2461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Purpose of the job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32461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9000" y="3246120"/>
            <a:ext cx="91440" cy="6858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5032" y="32461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Duties &amp; responsibilities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2461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246120"/>
            <a:ext cx="91440" cy="68580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32461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Qualifications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89720" y="32461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89720" y="3246120"/>
            <a:ext cx="91440" cy="6858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45752" y="32461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Skills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1605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160520"/>
            <a:ext cx="91440" cy="6858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1605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Experience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29000" y="41605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9000" y="4160520"/>
            <a:ext cx="91440" cy="6858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85032" y="41605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Working conditions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41605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09360" y="4160520"/>
            <a:ext cx="91440" cy="68580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41605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Expected results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89720" y="4160520"/>
            <a:ext cx="2697480" cy="68580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89720" y="4160520"/>
            <a:ext cx="91440" cy="68580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45752" y="4160520"/>
            <a:ext cx="237744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550" b="1" i="0">
                <a:solidFill>
                  <a:srgbClr val="1F262D"/>
                </a:solidFill>
                <a:latin typeface="Calibri"/>
              </a:rPr>
              <a:t>Ethical duties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3.1  PERFORMANCE APPRAISAL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Reviewing How Staff Are Doing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24712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900" b="0" i="0">
                <a:solidFill>
                  <a:srgbClr val="4A5159"/>
                </a:solidFill>
                <a:latin typeface="Calibri"/>
              </a:rPr>
              <a:t>Performance appraisal is a regular check of how well a staff member does their job. It keeps care safe, spots skills to improve, and rewards good work. It follows five steps: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788920"/>
            <a:ext cx="2084831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788920"/>
            <a:ext cx="2084831" cy="65836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2084831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1810511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0" i="0">
                <a:solidFill>
                  <a:srgbClr val="1F262D"/>
                </a:solidFill>
                <a:latin typeface="Calibri"/>
              </a:rPr>
              <a:t>Agree clear targets</a:t>
            </a:r>
          </a:p>
        </p:txBody>
      </p:sp>
      <p:sp>
        <p:nvSpPr>
          <p:cNvPr id="13" name="Chevron 12"/>
          <p:cNvSpPr/>
          <p:nvPr/>
        </p:nvSpPr>
        <p:spPr>
          <a:xfrm>
            <a:off x="2569463" y="3694176"/>
            <a:ext cx="182880" cy="292608"/>
          </a:xfrm>
          <a:prstGeom prst="chevron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5767" y="2788920"/>
            <a:ext cx="2084831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15767" y="2788920"/>
            <a:ext cx="2084831" cy="658368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15767" y="2788920"/>
            <a:ext cx="2084831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7" y="3611880"/>
            <a:ext cx="1810511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0" i="0">
                <a:solidFill>
                  <a:srgbClr val="1F262D"/>
                </a:solidFill>
                <a:latin typeface="Calibri"/>
              </a:rPr>
              <a:t>Support &amp; monitor through the year</a:t>
            </a:r>
          </a:p>
        </p:txBody>
      </p:sp>
      <p:sp>
        <p:nvSpPr>
          <p:cNvPr id="18" name="Chevron 17"/>
          <p:cNvSpPr/>
          <p:nvPr/>
        </p:nvSpPr>
        <p:spPr>
          <a:xfrm>
            <a:off x="4782310" y="3694176"/>
            <a:ext cx="182880" cy="292608"/>
          </a:xfrm>
          <a:prstGeom prst="chevron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28614" y="2788920"/>
            <a:ext cx="2084831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28614" y="2788920"/>
            <a:ext cx="2084831" cy="65836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28614" y="2788920"/>
            <a:ext cx="2084831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4" y="3611880"/>
            <a:ext cx="1810511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0" i="0">
                <a:solidFill>
                  <a:srgbClr val="1F262D"/>
                </a:solidFill>
                <a:latin typeface="Calibri"/>
              </a:rPr>
              <a:t>Yearly review &amp; self-check</a:t>
            </a:r>
          </a:p>
        </p:txBody>
      </p:sp>
      <p:sp>
        <p:nvSpPr>
          <p:cNvPr id="23" name="Chevron 22"/>
          <p:cNvSpPr/>
          <p:nvPr/>
        </p:nvSpPr>
        <p:spPr>
          <a:xfrm>
            <a:off x="6995157" y="3694176"/>
            <a:ext cx="182880" cy="292608"/>
          </a:xfrm>
          <a:prstGeom prst="chevron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41461" y="2788920"/>
            <a:ext cx="2084831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41461" y="2788920"/>
            <a:ext cx="2084831" cy="658368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1461" y="2788920"/>
            <a:ext cx="2084831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8621" y="3611880"/>
            <a:ext cx="1810511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0" i="0">
                <a:solidFill>
                  <a:srgbClr val="1F262D"/>
                </a:solidFill>
                <a:latin typeface="Calibri"/>
              </a:rPr>
              <a:t>Appraisal meeting &amp; feedback</a:t>
            </a:r>
          </a:p>
        </p:txBody>
      </p:sp>
      <p:sp>
        <p:nvSpPr>
          <p:cNvPr id="28" name="Chevron 27"/>
          <p:cNvSpPr/>
          <p:nvPr/>
        </p:nvSpPr>
        <p:spPr>
          <a:xfrm>
            <a:off x="9208004" y="3694176"/>
            <a:ext cx="182880" cy="292608"/>
          </a:xfrm>
          <a:prstGeom prst="chevron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354308" y="2788920"/>
            <a:ext cx="2084831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54308" y="2788920"/>
            <a:ext cx="2084831" cy="65836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08" y="2788920"/>
            <a:ext cx="2084831" cy="65836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91468" y="3611880"/>
            <a:ext cx="1810511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0" i="0">
                <a:solidFill>
                  <a:srgbClr val="1F262D"/>
                </a:solidFill>
                <a:latin typeface="Calibri"/>
              </a:rPr>
              <a:t>Plan next steps: training or fixes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3.2  RWANDAN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The Imihigo Performance Framework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486400" cy="4389120"/>
          </a:xfrm>
          <a:prstGeom prst="rect">
            <a:avLst/>
          </a:prstGeom>
          <a:solidFill>
            <a:srgbClr val="0B2E4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486400" cy="6858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54864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Calibri"/>
              </a:rPr>
              <a:t>What is Imihigo?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7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E8F3F3"/>
                </a:solidFill>
                <a:latin typeface="Calibri"/>
              </a:rPr>
              <a:t>Imihigo are yearly performance promises staff sign with their managers.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7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E8F3F3"/>
                </a:solidFill>
                <a:latin typeface="Calibri"/>
              </a:rPr>
              <a:t>The promises match the goals of the hospital and the national health plan.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7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E8F3F3"/>
                </a:solidFill>
                <a:latin typeface="Calibri"/>
              </a:rPr>
              <a:t>This links each person's work to the country's bigger targets.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100" b="1" i="0">
                <a:solidFill>
                  <a:srgbClr val="0B2E4F"/>
                </a:solidFill>
                <a:latin typeface="Calibri"/>
              </a:rPr>
              <a:t>What gets measured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286000"/>
            <a:ext cx="5349240" cy="10515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286000"/>
            <a:ext cx="91440" cy="105156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286000"/>
            <a:ext cx="493776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650" b="0" i="0">
                <a:solidFill>
                  <a:srgbClr val="1F262D"/>
                </a:solidFill>
                <a:latin typeface="Calibri"/>
              </a:rPr>
              <a:t>Keeping proper clinical records.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456432"/>
            <a:ext cx="5349240" cy="10515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456432"/>
            <a:ext cx="91440" cy="105156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456432"/>
            <a:ext cx="493776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650" b="0" i="0">
                <a:solidFill>
                  <a:srgbClr val="1F262D"/>
                </a:solidFill>
                <a:latin typeface="Calibri"/>
              </a:rPr>
              <a:t>Joining monthly professional training (CPD).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626864"/>
            <a:ext cx="5349240" cy="105156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4626864"/>
            <a:ext cx="91440" cy="105156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4626864"/>
            <a:ext cx="493776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650" b="0" i="0">
                <a:solidFill>
                  <a:srgbClr val="1F262D"/>
                </a:solidFill>
                <a:latin typeface="Calibri"/>
              </a:rPr>
              <a:t>Doing community outreach and health awareness.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3.3  EVALUATION &amp; FEEDBACK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Ways to Assess &amp; Give Good Feedback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2120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000" b="1" i="0">
                <a:solidFill>
                  <a:srgbClr val="0B2E4F"/>
                </a:solidFill>
                <a:latin typeface="Calibri"/>
              </a:rPr>
              <a:t>Ways to assess staff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011680"/>
            <a:ext cx="5257800" cy="123444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011680"/>
            <a:ext cx="91440" cy="123444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39696"/>
            <a:ext cx="49377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1" i="0">
                <a:solidFill>
                  <a:srgbClr val="0A6366"/>
                </a:solidFill>
                <a:latin typeface="Calibri"/>
              </a:rPr>
              <a:t>Watch on the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60320"/>
            <a:ext cx="493776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500" b="0" i="0">
                <a:solidFill>
                  <a:srgbClr val="4A5159"/>
                </a:solidFill>
                <a:latin typeface="Calibri"/>
              </a:rPr>
              <a:t>Supervisors observe care during normal rounds.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83280"/>
            <a:ext cx="5257800" cy="123444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383280"/>
            <a:ext cx="91440" cy="123444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11296"/>
            <a:ext cx="49377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1" i="0">
                <a:solidFill>
                  <a:srgbClr val="0A6366"/>
                </a:solidFill>
                <a:latin typeface="Calibri"/>
              </a:rPr>
              <a:t>Peer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31920"/>
            <a:ext cx="493776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500" b="0" i="0">
                <a:solidFill>
                  <a:srgbClr val="4A5159"/>
                </a:solidFill>
                <a:latin typeface="Calibri"/>
              </a:rPr>
              <a:t>Colleagues give feedback on teamwork and communication.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54880"/>
            <a:ext cx="5257800" cy="123444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54880"/>
            <a:ext cx="91440" cy="123444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82896"/>
            <a:ext cx="493776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1" i="0">
                <a:solidFill>
                  <a:srgbClr val="0A6366"/>
                </a:solidFill>
                <a:latin typeface="Calibri"/>
              </a:rPr>
              <a:t>Self-review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493776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500" b="0" i="0">
                <a:solidFill>
                  <a:srgbClr val="4A5159"/>
                </a:solidFill>
                <a:latin typeface="Calibri"/>
              </a:rPr>
              <a:t>Staff judge their own strengths and learning goals.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1417320"/>
            <a:ext cx="56692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89320" y="1417320"/>
            <a:ext cx="5669280" cy="6400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9320" y="1417320"/>
            <a:ext cx="5669280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How to give helpful 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5166360" cy="3566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Talk about actions, not the person.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Give it quickly, while it still matters.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Balance it: praise, then improve, then encourage.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Agree a plan together for the next steps.</a:t>
            </a:r>
          </a:p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Do it all year — not just once.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4.1 – 4.2 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Training &amp; Continuous Professional Development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5486400" cy="429768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128016" cy="429768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49377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100" b="1" i="0">
                <a:solidFill>
                  <a:srgbClr val="0B2E4F"/>
                </a:solidFill>
                <a:latin typeface="Calibri"/>
              </a:rPr>
              <a:t>Why training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493776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Training keeps staff knowledge and skills up to date.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It is vital because medicines, guidelines and rules change often.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1700" b="1" i="0">
                <a:solidFill>
                  <a:srgbClr val="0F8B8D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1F262D"/>
                </a:solidFill>
                <a:latin typeface="Calibri"/>
              </a:rPr>
              <a:t>Well-trained staff give safer, better care.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554480"/>
            <a:ext cx="5486400" cy="4297680"/>
          </a:xfrm>
          <a:prstGeom prst="rect">
            <a:avLst/>
          </a:prstGeom>
          <a:solidFill>
            <a:srgbClr val="0B2E4F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486400" cy="68580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86400" cy="6858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Continuous Professional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4892040" cy="320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7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E8F3F3"/>
                </a:solidFill>
                <a:latin typeface="Calibri"/>
              </a:rPr>
              <a:t>CPD is ongoing learning required by the nursing council.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7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E8F3F3"/>
                </a:solidFill>
                <a:latin typeface="Calibri"/>
              </a:rPr>
              <a:t>Every licensed nurse must earn CPD credits each year.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sz="1700" b="1" i="0">
                <a:solidFill>
                  <a:srgbClr val="8FD3D4"/>
                </a:solidFill>
                <a:latin typeface="Calibri"/>
              </a:rPr>
              <a:t>•  </a:t>
            </a:r>
            <a:r>
              <a:rPr sz="1700" b="0" i="0">
                <a:solidFill>
                  <a:srgbClr val="E8F3F3"/>
                </a:solidFill>
                <a:latin typeface="Calibri"/>
              </a:rPr>
              <a:t>Without these credits, they cannot keep their licence.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4.3  CAREER DEVELOPMENT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Growth, Mentorship &amp; Succession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5486400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5486400" cy="59436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502920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Study pathways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502920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0" i="0">
                <a:solidFill>
                  <a:srgbClr val="1F262D"/>
                </a:solidFill>
                <a:latin typeface="Calibri"/>
              </a:rPr>
              <a:t>Move up from diploma to degree, master's and beyond.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508760"/>
            <a:ext cx="5486400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1508760"/>
            <a:ext cx="5486400" cy="5943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508760"/>
            <a:ext cx="502920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Two career tracks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286000"/>
            <a:ext cx="502920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0" i="0">
                <a:solidFill>
                  <a:srgbClr val="1F262D"/>
                </a:solidFill>
                <a:latin typeface="Calibri"/>
              </a:rPr>
              <a:t>Grow as a clinical expert, or move into management.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5486400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886200"/>
            <a:ext cx="5486400" cy="594360"/>
          </a:xfrm>
          <a:prstGeom prst="rect">
            <a:avLst/>
          </a:prstGeom>
          <a:solidFill>
            <a:srgbClr val="0A6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502920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Mentorship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663440"/>
            <a:ext cx="502920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0" i="0">
                <a:solidFill>
                  <a:srgbClr val="1F262D"/>
                </a:solidFill>
                <a:latin typeface="Calibri"/>
              </a:rPr>
              <a:t>Senior staff guide new staff to build confidence.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86200"/>
            <a:ext cx="5486400" cy="2103120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886200"/>
            <a:ext cx="5486400" cy="59436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886200"/>
            <a:ext cx="502920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Succession planning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4663440"/>
            <a:ext cx="5029200" cy="1234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700" b="0" i="0">
                <a:solidFill>
                  <a:srgbClr val="1F262D"/>
                </a:solidFill>
                <a:latin typeface="Calibri"/>
              </a:rPr>
              <a:t>Prepare strong staff to take over leadership roles.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5.  CHALLENGES &amp;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Challenges &amp; What to Do (1 of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1155680" cy="1408176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19072"/>
            <a:ext cx="658368" cy="658368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572768"/>
            <a:ext cx="98755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B2E4F"/>
                </a:solidFill>
                <a:latin typeface="Calibri"/>
              </a:rPr>
              <a:t>Too few, unevenly placed 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29968"/>
            <a:ext cx="47548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4A5159"/>
                </a:solidFill>
                <a:latin typeface="Calibri"/>
              </a:rPr>
              <a:t>Problem:  </a:t>
            </a:r>
            <a:r>
              <a:rPr sz="1400" b="0" i="0">
                <a:solidFill>
                  <a:srgbClr val="4A5159"/>
                </a:solidFill>
                <a:latin typeface="Calibri"/>
              </a:rPr>
              <a:t>Not enough staff for the workload — causing stress and lower care quality.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011680"/>
            <a:ext cx="73152" cy="70408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029968"/>
            <a:ext cx="480060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0A6366"/>
                </a:solidFill>
                <a:latin typeface="Calibri"/>
              </a:rPr>
              <a:t>Solution:  </a:t>
            </a:r>
            <a:r>
              <a:rPr sz="1400" b="0" i="0">
                <a:solidFill>
                  <a:srgbClr val="1F262D"/>
                </a:solidFill>
                <a:latin typeface="Calibri"/>
              </a:rPr>
              <a:t>Use the WISN tool to match staff numbers to the real workload.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35808"/>
            <a:ext cx="11155680" cy="1408176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291840"/>
            <a:ext cx="658368" cy="658368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145536"/>
            <a:ext cx="98755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B2E4F"/>
                </a:solidFill>
                <a:latin typeface="Calibri"/>
              </a:rPr>
              <a:t>Hard to keep staff in rural areas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602736"/>
            <a:ext cx="47548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4A5159"/>
                </a:solidFill>
                <a:latin typeface="Calibri"/>
              </a:rPr>
              <a:t>Problem:  </a:t>
            </a:r>
            <a:r>
              <a:rPr sz="1400" b="0" i="0">
                <a:solidFill>
                  <a:srgbClr val="4A5159"/>
                </a:solidFill>
                <a:latin typeface="Calibri"/>
              </a:rPr>
              <a:t>Remote hospitals struggle to attract staff — poor housing, few chances to grow.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3584448"/>
            <a:ext cx="73152" cy="70408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602736"/>
            <a:ext cx="480060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0A6366"/>
                </a:solidFill>
                <a:latin typeface="Calibri"/>
              </a:rPr>
              <a:t>Solution:  </a:t>
            </a:r>
            <a:r>
              <a:rPr sz="1400" b="0" i="0">
                <a:solidFill>
                  <a:srgbClr val="1F262D"/>
                </a:solidFill>
                <a:latin typeface="Calibri"/>
              </a:rPr>
              <a:t>Offer allowances, housing help and priority sponsored training.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08576"/>
            <a:ext cx="11155680" cy="1408176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4864608"/>
            <a:ext cx="658368" cy="658368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718304"/>
            <a:ext cx="98755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B2E4F"/>
                </a:solidFill>
                <a:latin typeface="Calibri"/>
              </a:rPr>
              <a:t>Stress and burnout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5175504"/>
            <a:ext cx="47548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4A5159"/>
                </a:solidFill>
                <a:latin typeface="Calibri"/>
              </a:rPr>
              <a:t>Problem:  </a:t>
            </a:r>
            <a:r>
              <a:rPr sz="1400" b="0" i="0">
                <a:solidFill>
                  <a:srgbClr val="4A5159"/>
                </a:solidFill>
                <a:latin typeface="Calibri"/>
              </a:rPr>
              <a:t>Constant hard cases cause exhaustion and fatigue.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5157216"/>
            <a:ext cx="73152" cy="70408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5175504"/>
            <a:ext cx="480060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0A6366"/>
                </a:solidFill>
                <a:latin typeface="Calibri"/>
              </a:rPr>
              <a:t>Solution:  </a:t>
            </a:r>
            <a:r>
              <a:rPr sz="1400" b="0" i="0">
                <a:solidFill>
                  <a:srgbClr val="1F262D"/>
                </a:solidFill>
                <a:latin typeface="Calibri"/>
              </a:rPr>
              <a:t>Set up debriefing sessions and staff wellness programs.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5.  CHALLENGES &amp; 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Challenges &amp; What to Do (2 of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1155680" cy="1408176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719072"/>
            <a:ext cx="658368" cy="658368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572768"/>
            <a:ext cx="98755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B2E4F"/>
                </a:solidFill>
                <a:latin typeface="Calibri"/>
              </a:rPr>
              <a:t>Unclear or outdated job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29968"/>
            <a:ext cx="47548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4A5159"/>
                </a:solidFill>
                <a:latin typeface="Calibri"/>
              </a:rPr>
              <a:t>Problem:  </a:t>
            </a:r>
            <a:r>
              <a:rPr sz="1400" b="0" i="0">
                <a:solidFill>
                  <a:srgbClr val="4A5159"/>
                </a:solidFill>
                <a:latin typeface="Calibri"/>
              </a:rPr>
              <a:t>Some duties like outreach and follow-up are not clearly defined.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011680"/>
            <a:ext cx="73152" cy="70408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029968"/>
            <a:ext cx="480060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0A6366"/>
                </a:solidFill>
                <a:latin typeface="Calibri"/>
              </a:rPr>
              <a:t>Solution:  </a:t>
            </a:r>
            <a:r>
              <a:rPr sz="1400" b="0" i="0">
                <a:solidFill>
                  <a:srgbClr val="1F262D"/>
                </a:solidFill>
                <a:latin typeface="Calibri"/>
              </a:rPr>
              <a:t>Review and update job descriptions regularly at every level.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35808"/>
            <a:ext cx="11155680" cy="1408176"/>
          </a:xfrm>
          <a:prstGeom prst="rect">
            <a:avLst/>
          </a:prstGeom>
          <a:solidFill>
            <a:srgbClr val="F5F9FA"/>
          </a:solidFill>
          <a:ln w="12700">
            <a:solidFill>
              <a:srgbClr val="E8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3291840"/>
            <a:ext cx="658368" cy="658368"/>
          </a:xfrm>
          <a:prstGeom prst="ellipse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145536"/>
            <a:ext cx="98755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800" b="1" i="0">
                <a:solidFill>
                  <a:srgbClr val="0B2E4F"/>
                </a:solidFill>
                <a:latin typeface="Calibri"/>
              </a:rPr>
              <a:t>Limited access to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602736"/>
            <a:ext cx="475488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4A5159"/>
                </a:solidFill>
                <a:latin typeface="Calibri"/>
              </a:rPr>
              <a:t>Problem:  </a:t>
            </a:r>
            <a:r>
              <a:rPr sz="1400" b="0" i="0">
                <a:solidFill>
                  <a:srgbClr val="4A5159"/>
                </a:solidFill>
                <a:latin typeface="Calibri"/>
              </a:rPr>
              <a:t>Rural staff can rarely leave work for face-to-face training.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3584448"/>
            <a:ext cx="73152" cy="704088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602736"/>
            <a:ext cx="4800600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0A6366"/>
                </a:solidFill>
                <a:latin typeface="Calibri"/>
              </a:rPr>
              <a:t>Solution:  </a:t>
            </a:r>
            <a:r>
              <a:rPr sz="1400" b="0" i="0">
                <a:solidFill>
                  <a:srgbClr val="1F262D"/>
                </a:solidFill>
                <a:latin typeface="Calibri"/>
              </a:rPr>
              <a:t>Expand online (e-learning) courses so training reaches everyone.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19088"/>
            <a:ext cx="8229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000" b="0" i="0">
                <a:solidFill>
                  <a:srgbClr val="4A5159"/>
                </a:solidFill>
                <a:latin typeface="Calibri"/>
              </a:rPr>
              <a:t>Human Resource Management in Health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200" b="1" i="0">
                <a:solidFill>
                  <a:srgbClr val="0F8B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1188720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"/>
            <a:ext cx="10515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1400" b="1" i="0">
                <a:solidFill>
                  <a:srgbClr val="8FD3D4"/>
                </a:solidFill>
                <a:latin typeface="Calibri"/>
              </a:rPr>
              <a:t>6. 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5488"/>
            <a:ext cx="1124712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4480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>
              <a:spcAft>
                <a:spcPts val="1600"/>
              </a:spcAft>
            </a:pPr>
            <a:r>
              <a:rPr sz="1500" b="1" i="0">
                <a:solidFill>
                  <a:srgbClr val="0F8B8D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F262D"/>
                </a:solidFill>
                <a:latin typeface="Calibri"/>
              </a:rPr>
              <a:t>Ministry of Health. (2021). Fifth Health Sector Strategic Plan (HSSP V) 2021–2026. Government of Rwanda.</a:t>
            </a:r>
          </a:p>
          <a:p>
            <a:pPr>
              <a:spcAft>
                <a:spcPts val="1600"/>
              </a:spcAft>
            </a:pPr>
            <a:r>
              <a:rPr sz="1500" b="1" i="0">
                <a:solidFill>
                  <a:srgbClr val="0F8B8D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F262D"/>
                </a:solidFill>
                <a:latin typeface="Calibri"/>
              </a:rPr>
              <a:t>National Institute of Statistics of Rwanda. (2026). Imihigo 2024/25: Evaluation final report. Government of Rwanda.</a:t>
            </a:r>
          </a:p>
          <a:p>
            <a:pPr>
              <a:spcAft>
                <a:spcPts val="1600"/>
              </a:spcAft>
            </a:pPr>
            <a:r>
              <a:rPr sz="1500" b="1" i="0">
                <a:solidFill>
                  <a:srgbClr val="0F8B8D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F262D"/>
                </a:solidFill>
                <a:latin typeface="Calibri"/>
              </a:rPr>
              <a:t>Purwadhi, A., Octaviani, P., &amp; Suryandartiwi, W. (2024). Systematic literature review on health human resource management strategies. Journal of Health Organization and Management, 38(4), 412–428.</a:t>
            </a:r>
          </a:p>
          <a:p>
            <a:pPr>
              <a:spcAft>
                <a:spcPts val="1600"/>
              </a:spcAft>
            </a:pPr>
            <a:r>
              <a:rPr sz="1500" b="1" i="0">
                <a:solidFill>
                  <a:srgbClr val="0F8B8D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F262D"/>
                </a:solidFill>
                <a:latin typeface="Calibri"/>
              </a:rPr>
              <a:t>Sasmita, E. E. (2026). A systematic review of high-performance work systems in healthcare settings. Cogent Business &amp; Management, 13(1), 2705635.</a:t>
            </a:r>
          </a:p>
          <a:p>
            <a:pPr>
              <a:spcAft>
                <a:spcPts val="1600"/>
              </a:spcAft>
            </a:pPr>
            <a:r>
              <a:rPr sz="1500" b="1" i="0">
                <a:solidFill>
                  <a:srgbClr val="0F8B8D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1F262D"/>
                </a:solidFill>
                <a:latin typeface="Calibri"/>
              </a:rPr>
              <a:t>World Health Organization. (2021). Workload Indicators of Staffing Need (WISN): User manual and implementation guide. WHO.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035040"/>
            <a:ext cx="12191695" cy="54864"/>
          </a:xfrm>
          <a:prstGeom prst="rect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8229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Calibri"/>
              </a:rPr>
              <a:t>Thank you  —  Group 2</a:t>
            </a:r>
          </a:p>
        </p:txBody>
      </p:sp>
    </p:spTree>
  </p:cSld>
  <p:clrMapOvr>
    <a:masterClrMapping/>
  </p:clrMapOvr>
  <p:transition xmlns:ns0="http://schemas.openxmlformats.org/markup-compatibility/2006" spd="med" ns0:Ignorable="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