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9144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1371600" cy="128016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500" b="1" i="0">
                <a:solidFill>
                  <a:srgbClr val="8FD3D4"/>
                </a:solidFill>
                <a:latin typeface="Calibri"/>
              </a:rPr>
              <a:t>GROUP 2  •  HEALTH SERVICES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alibri"/>
              </a:rPr>
              <a:t>Human Resource Management</a:t>
            </a:r>
          </a:p>
          <a:p>
            <a:r>
              <a:rPr sz="4800" b="1" i="0">
                <a:solidFill>
                  <a:srgbClr val="0F8B8D"/>
                </a:solidFill>
                <a:latin typeface="Calibri"/>
              </a:rPr>
              <a:t>in Health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4241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700" b="0" i="0">
                <a:solidFill>
                  <a:srgbClr val="C9E4E4"/>
                </a:solidFill>
                <a:latin typeface="Calibri"/>
              </a:rPr>
              <a:t>Recruitment • Retention • Staffing • Appraisal • Training &amp; Career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0" i="1">
                <a:solidFill>
                  <a:srgbClr val="FFFFFF"/>
                </a:solidFill>
                <a:latin typeface="Calibri"/>
              </a:rPr>
              <a:t>A focus on mental health nursing in Rwanda's public health sector</a:t>
            </a:r>
          </a:p>
          <a:p>
            <a:r>
              <a:rPr sz="1300" b="1" i="0">
                <a:solidFill>
                  <a:srgbClr val="9FC9CA"/>
                </a:solidFill>
                <a:latin typeface="Calibri"/>
              </a:rPr>
              <a:t>Class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1.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Resource Management in 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500" b="0" i="0">
                <a:solidFill>
                  <a:srgbClr val="555B63"/>
                </a:solidFill>
                <a:latin typeface="Calibri"/>
              </a:rPr>
              <a:t>Planning, allocating and monitoring all assets needed to deliver safe, efficient, quality patient care — used without waste so care continues even in low-resource settings.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2697480" cy="3200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2697480" cy="6858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6974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2514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0F8B8D"/>
                </a:solidFill>
                <a:latin typeface="Calibri"/>
              </a:rPr>
              <a:t>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24231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0" i="0">
                <a:solidFill>
                  <a:srgbClr val="555B63"/>
                </a:solidFill>
                <a:latin typeface="Calibri"/>
              </a:rPr>
              <a:t>Workforce: mental health nurses, psychiatrists, psychologists, social workers, admin staff.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377440"/>
            <a:ext cx="2697480" cy="3200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2377440"/>
            <a:ext cx="2697480" cy="68580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377440"/>
            <a:ext cx="26974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154680"/>
            <a:ext cx="2514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0A6366"/>
                </a:solidFill>
                <a:latin typeface="Calibri"/>
              </a:rPr>
              <a:t>Financial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749040"/>
            <a:ext cx="24231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0" i="0">
                <a:solidFill>
                  <a:srgbClr val="555B63"/>
                </a:solidFill>
                <a:latin typeface="Calibri"/>
              </a:rPr>
              <a:t>Budgets, operational funds, Mutuelle de Santé revenue, external project grants.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2377440"/>
            <a:ext cx="2697480" cy="3200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2377440"/>
            <a:ext cx="2697480" cy="6858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2377440"/>
            <a:ext cx="26974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154680"/>
            <a:ext cx="2514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0B2E4F"/>
                </a:solidFill>
                <a:latin typeface="Calibri"/>
              </a:rPr>
              <a:t>Physical / Material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749040"/>
            <a:ext cx="24231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0" i="0">
                <a:solidFill>
                  <a:srgbClr val="555B63"/>
                </a:solidFill>
                <a:latin typeface="Calibri"/>
              </a:rPr>
              <a:t>Infrastructure, beds, psychotropic medicines, diagnostics, PPE, clinical supplies.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9136" y="2377440"/>
            <a:ext cx="2697480" cy="3200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9136" y="2377440"/>
            <a:ext cx="2697480" cy="6858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2377440"/>
            <a:ext cx="26974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3154680"/>
            <a:ext cx="2514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E08A1E"/>
                </a:solidFill>
                <a:latin typeface="Calibri"/>
              </a:rPr>
              <a:t>Informational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3749040"/>
            <a:ext cx="24231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0" i="0">
                <a:solidFill>
                  <a:srgbClr val="555B63"/>
                </a:solidFill>
                <a:latin typeface="Calibri"/>
              </a:rPr>
              <a:t>HMIS, electronic medical records, patient files, clinical guidelines &amp; protocols.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1.2 – 1.3  HUMAN RESOURCE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HRM &amp; Its Strategic Importance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074920" cy="4480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28016" cy="44805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800" b="1" i="0">
                <a:solidFill>
                  <a:srgbClr val="0B2E4F"/>
                </a:solidFill>
                <a:latin typeface="Calibri"/>
              </a:rPr>
              <a:t>What is HRM?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572000" cy="3566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32A31"/>
                </a:solidFill>
                <a:latin typeface="Calibri"/>
              </a:rPr>
              <a:t>A strategic approach to recruiting, managing, supporting and developing an organization's employees.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32A31"/>
                </a:solidFill>
                <a:latin typeface="Calibri"/>
              </a:rPr>
              <a:t>In healthcare, HRM focuses on the workforce that delivers clinical services.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32A31"/>
                </a:solidFill>
                <a:latin typeface="Calibri"/>
              </a:rPr>
              <a:t>It directly impacts patient safety, quality of care, treatment adherence and clinical outcomes.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32A31"/>
                </a:solidFill>
                <a:latin typeface="Calibri"/>
              </a:rPr>
              <a:t>Mental healthcare relies on human capital — communication, therapeutic relationships, psychological evaluation and crisis de-escalation — not machinery.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54480"/>
            <a:ext cx="5760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800" b="1" i="0">
                <a:solidFill>
                  <a:srgbClr val="0B2E4F"/>
                </a:solidFill>
                <a:latin typeface="Calibri"/>
              </a:rPr>
              <a:t>Why proper HRM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5760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555B63"/>
                </a:solidFill>
                <a:latin typeface="Calibri"/>
              </a:rPr>
              <a:t>Heavy workloads, high patient-to-nurse ratios and stigma make HRM essential. It ensures: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697480"/>
            <a:ext cx="5806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697480"/>
            <a:ext cx="91440" cy="96012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78892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00" b="1" i="0">
                <a:solidFill>
                  <a:srgbClr val="0A6366"/>
                </a:solidFill>
                <a:latin typeface="Calibri"/>
              </a:rPr>
              <a:t>Equal workforce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15468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0" i="0">
                <a:solidFill>
                  <a:srgbClr val="555B63"/>
                </a:solidFill>
                <a:latin typeface="Calibri"/>
              </a:rPr>
              <a:t>Trained nurses placed across urban centres (e.g. Ndera Neuropsychiatric Hospital) and rural district hospitals.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776472"/>
            <a:ext cx="5806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3776472"/>
            <a:ext cx="91440" cy="96012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867912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00" b="1" i="0">
                <a:solidFill>
                  <a:srgbClr val="0A6366"/>
                </a:solidFill>
                <a:latin typeface="Calibri"/>
              </a:rPr>
              <a:t>Burnout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233672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0" i="0">
                <a:solidFill>
                  <a:srgbClr val="555B63"/>
                </a:solidFill>
                <a:latin typeface="Calibri"/>
              </a:rPr>
              <a:t>Reduces emotional exhaustion among nurses handling trauma and psychiatric emergencies.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4855464"/>
            <a:ext cx="5806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4855464"/>
            <a:ext cx="91440" cy="96012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946904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00" b="1" i="0">
                <a:solidFill>
                  <a:srgbClr val="0A6366"/>
                </a:solidFill>
                <a:latin typeface="Calibri"/>
              </a:rPr>
              <a:t>Quality &amp;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31266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0" i="0">
                <a:solidFill>
                  <a:srgbClr val="555B63"/>
                </a:solidFill>
                <a:latin typeface="Calibri"/>
              </a:rPr>
              <a:t>Strict adherence to ethical standards of the National Council of Nurses and Midwives (NCNM).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2.1  RECRUITMENT &amp;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The Public-Sector Recruitment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555B63"/>
                </a:solidFill>
                <a:latin typeface="Calibri"/>
              </a:rPr>
              <a:t>Recruitment attracts qualified candidates; selection chooses the best. In Rwanda it follows public-service guidelines via MIFOTRA in coordination with the Ministry of Health.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57400"/>
            <a:ext cx="438912" cy="438912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57400"/>
            <a:ext cx="5852160" cy="4572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5577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0" i="0">
                <a:solidFill>
                  <a:srgbClr val="232A31"/>
                </a:solidFill>
                <a:latin typeface="Calibri"/>
              </a:rPr>
              <a:t>Needs assessment &amp; vacancy declaration (Hospital / MoH)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55748"/>
            <a:ext cx="438912" cy="438912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555748"/>
            <a:ext cx="5852160" cy="4572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555748"/>
            <a:ext cx="5577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0" i="0">
                <a:solidFill>
                  <a:srgbClr val="232A31"/>
                </a:solidFill>
                <a:latin typeface="Calibri"/>
              </a:rPr>
              <a:t>Public job advertisement (E-Recruitment / MIFOTRA)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54096"/>
            <a:ext cx="438912" cy="438912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054096"/>
            <a:ext cx="5852160" cy="4572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054096"/>
            <a:ext cx="5577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0" i="0">
                <a:solidFill>
                  <a:srgbClr val="232A31"/>
                </a:solidFill>
                <a:latin typeface="Calibri"/>
              </a:rPr>
              <a:t>Screening applications &amp; shortlisting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52444"/>
            <a:ext cx="438912" cy="438912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552444"/>
            <a:ext cx="5852160" cy="4572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552444"/>
            <a:ext cx="5577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0" i="0">
                <a:solidFill>
                  <a:srgbClr val="232A31"/>
                </a:solidFill>
                <a:latin typeface="Calibri"/>
              </a:rPr>
              <a:t>Written examination (clinical &amp; professional knowledge)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050792"/>
            <a:ext cx="438912" cy="438912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050792"/>
            <a:ext cx="5852160" cy="4572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050792"/>
            <a:ext cx="5577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0" i="0">
                <a:solidFill>
                  <a:srgbClr val="232A31"/>
                </a:solidFill>
                <a:latin typeface="Calibri"/>
              </a:rPr>
              <a:t>Oral interview (scenarios, communication, ethics)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549140"/>
            <a:ext cx="438912" cy="438912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549140"/>
            <a:ext cx="5852160" cy="4572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49140"/>
            <a:ext cx="5577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0" i="0">
                <a:solidFill>
                  <a:srgbClr val="232A31"/>
                </a:solidFill>
                <a:latin typeface="Calibri"/>
              </a:rPr>
              <a:t>Licensing &amp; registration check (NCNM verification)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047488"/>
            <a:ext cx="438912" cy="438912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5047488"/>
            <a:ext cx="5852160" cy="4572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047488"/>
            <a:ext cx="5577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0" i="0">
                <a:solidFill>
                  <a:srgbClr val="232A31"/>
                </a:solidFill>
                <a:latin typeface="Calibri"/>
              </a:rPr>
              <a:t>Appointment, onboarding &amp; orientation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2057400"/>
            <a:ext cx="4297680" cy="3566160"/>
          </a:xfrm>
          <a:prstGeom prst="rect">
            <a:avLst/>
          </a:prstGeom>
          <a:solidFill>
            <a:srgbClr val="0B2E4F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2057400"/>
            <a:ext cx="4297680" cy="54864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057400"/>
            <a:ext cx="42976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Selection must be competency-based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788920"/>
            <a:ext cx="38862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8F3F3"/>
                </a:solidFill>
                <a:latin typeface="Calibri"/>
              </a:rPr>
              <a:t>Academic qualifications — Advanced Diploma or BSc in Mental Health Nursing.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8F3F3"/>
                </a:solidFill>
                <a:latin typeface="Calibri"/>
              </a:rPr>
              <a:t>Active professional licensure from the NCNM.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8F3F3"/>
                </a:solidFill>
                <a:latin typeface="Calibri"/>
              </a:rPr>
              <a:t>Practical skills in psychiatric emergency management and therapeutic communication.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2.2  WORKFORCE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Retention Strategies in the Rwandan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555B63"/>
                </a:solidFill>
                <a:latin typeface="Calibri"/>
              </a:rPr>
              <a:t>High turnover disrupts services and overloads remaining staff. Retention keeps qualified nurses and reduces turnover.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20240"/>
          <a:ext cx="11155680" cy="3063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3383280"/>
                <a:gridCol w="5120640"/>
              </a:tblGrid>
              <a:tr h="50292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9728" marR="91440" marT="45720" marB="45720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109728" marR="91440" marT="45720" marB="45720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Application in mental health</a:t>
                      </a:r>
                    </a:p>
                  </a:txBody>
                  <a:tcPr marL="109728" marR="91440" marT="45720" marB="45720" anchor="ctr">
                    <a:solidFill>
                      <a:srgbClr val="0B2E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A6366"/>
                          </a:solidFill>
                          <a:latin typeface="Calibri"/>
                        </a:rPr>
                        <a:t>Financial incentives</a:t>
                      </a:r>
                    </a:p>
                  </a:txBody>
                  <a:tcPr marL="109728" marR="91440" marT="45720" marB="45720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Hardship allowances &amp; performance pay</a:t>
                      </a:r>
                    </a:p>
                  </a:txBody>
                  <a:tcPr marL="109728" marR="91440" marT="45720" marB="45720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Rural-posting allowances plus performance-based financing (PBF).</a:t>
                      </a:r>
                    </a:p>
                  </a:txBody>
                  <a:tcPr marL="109728" marR="91440" marT="45720" marB="45720" anchor="ctr">
                    <a:solidFill>
                      <a:srgbClr val="F5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A6366"/>
                          </a:solidFill>
                          <a:latin typeface="Calibri"/>
                        </a:rPr>
                        <a:t>Professional support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Continuous education &amp; sponsorship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Upgrading from Advanced Diploma to BSc / Master's at the University of Rwanda.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A6366"/>
                          </a:solidFill>
                          <a:latin typeface="Calibri"/>
                        </a:rPr>
                        <a:t>Work environment</a:t>
                      </a:r>
                    </a:p>
                  </a:txBody>
                  <a:tcPr marL="109728" marR="91440" marT="45720" marB="45720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Safe, supportive workplace</a:t>
                      </a:r>
                    </a:p>
                  </a:txBody>
                  <a:tcPr marL="109728" marR="91440" marT="45720" marB="45720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Adequate psychotropic supplies, safety equipment, manageable shift schedules.</a:t>
                      </a:r>
                    </a:p>
                  </a:txBody>
                  <a:tcPr marL="109728" marR="91440" marT="45720" marB="45720" anchor="ctr">
                    <a:solidFill>
                      <a:srgbClr val="F5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A6366"/>
                          </a:solidFill>
                          <a:latin typeface="Calibri"/>
                        </a:rPr>
                        <a:t>Psychosocial support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Debriefing &amp; counselling for staff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2A31"/>
                          </a:solidFill>
                          <a:latin typeface="Calibri"/>
                        </a:rPr>
                        <a:t>Peer-support sessions and trauma debriefing after severe psychiatric crises.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2.3  STAFFING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The WISN Staffing Model (WHO)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500" b="0" i="0">
                <a:solidFill>
                  <a:srgbClr val="555B63"/>
                </a:solidFill>
                <a:latin typeface="Calibri"/>
              </a:rPr>
              <a:t>Staffing allocation assigns the right number and mix of workers by patient volume and care needs. The Workload Indicators of Staffing Need (WISN) method (WHO) calculates required staffing from: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3566160" cy="2194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3566160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700" b="1" i="0">
                <a:solidFill>
                  <a:srgbClr val="0B2E4F"/>
                </a:solidFill>
                <a:latin typeface="Calibri"/>
              </a:rPr>
              <a:t>Clinical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31089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555B63"/>
                </a:solidFill>
                <a:latin typeface="Calibri"/>
              </a:rPr>
              <a:t>Daily psychiatric consultations, inpatient admissions and emergency visits.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514600"/>
            <a:ext cx="3566160" cy="2194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514600"/>
            <a:ext cx="3566160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700" b="1" i="0">
                <a:solidFill>
                  <a:srgbClr val="0B2E4F"/>
                </a:solidFill>
                <a:latin typeface="Calibri"/>
              </a:rPr>
              <a:t>Time per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31089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555B63"/>
                </a:solidFill>
                <a:latin typeface="Calibri"/>
              </a:rPr>
              <a:t>Time required for each clinical activity per national nursing standards.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3566160" cy="2194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514600"/>
            <a:ext cx="3566160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834640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700" b="1" i="0">
                <a:solidFill>
                  <a:srgbClr val="0B2E4F"/>
                </a:solidFill>
                <a:latin typeface="Calibri"/>
              </a:rPr>
              <a:t>Available work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474720"/>
            <a:ext cx="31089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555B63"/>
                </a:solidFill>
                <a:latin typeface="Calibri"/>
              </a:rPr>
              <a:t>Working time per nurse after leave, holidays and training days.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0881360" cy="86868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3327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Applying WISN in mental health units prevents nurse burnout and avoids understaffing during peak emergency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2.4  JOB DESCRIPTIONS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Anatomy of a Standard Job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00" b="0" i="0">
                <a:solidFill>
                  <a:srgbClr val="555B63"/>
                </a:solidFill>
                <a:latin typeface="Calibri"/>
              </a:rPr>
              <a:t>A formal document outlining duties, responsibilities, qualifications, reporting hierarchy and working conditions. Clear descriptions reduce role ambiguity, prevent conflict and anchor performance appraisal.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91440" cy="5669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31720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Job title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331720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331720"/>
            <a:ext cx="91440" cy="5669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331720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Department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331720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331720"/>
            <a:ext cx="91440" cy="566928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331720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Reports 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2331720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2331720"/>
            <a:ext cx="91440" cy="56692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2" y="2331720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Job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99816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99816"/>
            <a:ext cx="91440" cy="5669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099816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Job 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099816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3099816"/>
            <a:ext cx="91440" cy="5669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3099816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Duties &amp; responsibilities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099816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099816"/>
            <a:ext cx="91440" cy="566928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099816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Qualifications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3099816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3099816"/>
            <a:ext cx="91440" cy="56692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3099816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Skills &amp; competencies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867912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867912"/>
            <a:ext cx="91440" cy="5669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867912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Experience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3867912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9000" y="3867912"/>
            <a:ext cx="91440" cy="5669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85032" y="3867912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Working conditions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867912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867912"/>
            <a:ext cx="91440" cy="566928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867912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Performance expectations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3867912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9720" y="3867912"/>
            <a:ext cx="91440" cy="56692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45752" y="3867912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Professional &amp; ethical duties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636008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636008"/>
            <a:ext cx="91440" cy="5669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4636008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Salary &amp; benefits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4636008"/>
            <a:ext cx="2697480" cy="566928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29000" y="4636008"/>
            <a:ext cx="91440" cy="5669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85032" y="4636008"/>
            <a:ext cx="2377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300" b="1" i="0">
                <a:solidFill>
                  <a:srgbClr val="232A31"/>
                </a:solidFill>
                <a:latin typeface="Calibri"/>
              </a:rPr>
              <a:t>Date / 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3.1  PERFORMANCE APPRAISAL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Understanding Performance Appraisal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50" b="0" i="0">
                <a:solidFill>
                  <a:srgbClr val="555B63"/>
                </a:solidFill>
                <a:latin typeface="Calibri"/>
              </a:rPr>
              <a:t>The systematic, periodic evaluation of an employee's job performance, clinical competence, behaviour and contribution to institutional goals — maintaining patient safety, identifying skill gaps and rewarding dedication.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2084831" cy="201168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2084831" cy="64008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2084831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810511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232A31"/>
                </a:solidFill>
                <a:latin typeface="Calibri"/>
              </a:rPr>
              <a:t>Set clear performance targets &amp; indicators</a:t>
            </a:r>
          </a:p>
        </p:txBody>
      </p:sp>
      <p:sp>
        <p:nvSpPr>
          <p:cNvPr id="13" name="Chevron 12"/>
          <p:cNvSpPr/>
          <p:nvPr/>
        </p:nvSpPr>
        <p:spPr>
          <a:xfrm>
            <a:off x="2569463" y="3694176"/>
            <a:ext cx="182880" cy="292608"/>
          </a:xfrm>
          <a:prstGeom prst="chevron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7" y="2834640"/>
            <a:ext cx="2084831" cy="201168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15767" y="2834640"/>
            <a:ext cx="2084831" cy="64008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7" y="2834640"/>
            <a:ext cx="2084831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7" y="3611880"/>
            <a:ext cx="1810511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232A31"/>
                </a:solidFill>
                <a:latin typeface="Calibri"/>
              </a:rPr>
              <a:t>Continuous monitoring &amp; support</a:t>
            </a:r>
          </a:p>
        </p:txBody>
      </p:sp>
      <p:sp>
        <p:nvSpPr>
          <p:cNvPr id="18" name="Chevron 17"/>
          <p:cNvSpPr/>
          <p:nvPr/>
        </p:nvSpPr>
        <p:spPr>
          <a:xfrm>
            <a:off x="4782310" y="3694176"/>
            <a:ext cx="182880" cy="292608"/>
          </a:xfrm>
          <a:prstGeom prst="chevron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28614" y="2834640"/>
            <a:ext cx="2084831" cy="201168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28614" y="2834640"/>
            <a:ext cx="2084831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4" y="2834640"/>
            <a:ext cx="2084831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4" y="3611880"/>
            <a:ext cx="1810511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232A31"/>
                </a:solidFill>
                <a:latin typeface="Calibri"/>
              </a:rPr>
              <a:t>Annual evaluation &amp; self-assessment</a:t>
            </a:r>
          </a:p>
        </p:txBody>
      </p:sp>
      <p:sp>
        <p:nvSpPr>
          <p:cNvPr id="23" name="Chevron 22"/>
          <p:cNvSpPr/>
          <p:nvPr/>
        </p:nvSpPr>
        <p:spPr>
          <a:xfrm>
            <a:off x="6995157" y="3694176"/>
            <a:ext cx="182880" cy="292608"/>
          </a:xfrm>
          <a:prstGeom prst="chevron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41461" y="2834640"/>
            <a:ext cx="2084831" cy="201168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41461" y="2834640"/>
            <a:ext cx="2084831" cy="64008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41461" y="2834640"/>
            <a:ext cx="2084831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1" y="3611880"/>
            <a:ext cx="1810511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232A31"/>
                </a:solidFill>
                <a:latin typeface="Calibri"/>
              </a:rPr>
              <a:t>Formal appraisal meeting &amp; feedback</a:t>
            </a:r>
          </a:p>
        </p:txBody>
      </p:sp>
      <p:sp>
        <p:nvSpPr>
          <p:cNvPr id="28" name="Chevron 27"/>
          <p:cNvSpPr/>
          <p:nvPr/>
        </p:nvSpPr>
        <p:spPr>
          <a:xfrm>
            <a:off x="9208004" y="3694176"/>
            <a:ext cx="182880" cy="292608"/>
          </a:xfrm>
          <a:prstGeom prst="chevron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08" y="2834640"/>
            <a:ext cx="2084831" cy="201168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54308" y="2834640"/>
            <a:ext cx="2084831" cy="64008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08" y="2834640"/>
            <a:ext cx="2084831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68" y="3611880"/>
            <a:ext cx="1810511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232A31"/>
                </a:solidFill>
                <a:latin typeface="Calibri"/>
              </a:rPr>
              <a:t>Action planning: CPD, training or corrective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3.2  RWANDAN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The Imihigo Performance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00" cy="4389120"/>
          </a:xfrm>
          <a:prstGeom prst="rect">
            <a:avLst/>
          </a:prstGeom>
          <a:solidFill>
            <a:srgbClr val="0B2E4F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486400" cy="6858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5486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 Imihigo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93776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F3F3"/>
                </a:solidFill>
                <a:latin typeface="Calibri"/>
              </a:rPr>
              <a:t>Public hospitals and health centres align appraisal with the Imihigo performance-contract framework.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F3F3"/>
                </a:solidFill>
                <a:latin typeface="Calibri"/>
              </a:rPr>
              <a:t>Staff, with department heads, sign annual performance commitments.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F3F3"/>
                </a:solidFill>
                <a:latin typeface="Calibri"/>
              </a:rPr>
              <a:t>These reflect the strategic goals of the hospital, the Ministry of Health and the National Strategy for Transformation (NST).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800" b="1" i="0">
                <a:solidFill>
                  <a:srgbClr val="0B2E4F"/>
                </a:solidFill>
                <a:latin typeface="Calibri"/>
              </a:rPr>
              <a:t>Evaluation metrics in health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86000"/>
            <a:ext cx="5349240" cy="1051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91440" cy="10515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493776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0" i="0">
                <a:solidFill>
                  <a:srgbClr val="232A31"/>
                </a:solidFill>
                <a:latin typeface="Calibri"/>
              </a:rPr>
              <a:t>Compliance with clinical documentation protocols.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456432"/>
            <a:ext cx="5349240" cy="1051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456432"/>
            <a:ext cx="91440" cy="10515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456432"/>
            <a:ext cx="493776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0" i="0">
                <a:solidFill>
                  <a:srgbClr val="232A31"/>
                </a:solidFill>
                <a:latin typeface="Calibri"/>
              </a:rPr>
              <a:t>Active participation in monthly Continuous Professional Development (CPD) sessions.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626864"/>
            <a:ext cx="5349240" cy="1051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626864"/>
            <a:ext cx="91440" cy="10515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626864"/>
            <a:ext cx="493776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0" i="0">
                <a:solidFill>
                  <a:srgbClr val="232A31"/>
                </a:solidFill>
                <a:latin typeface="Calibri"/>
              </a:rPr>
              <a:t>Execution of community outreach and health-awareness activities.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3.3  EVALUATION &amp;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Methods &amp; Constructive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212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700" b="1" i="0">
                <a:solidFill>
                  <a:srgbClr val="0B2E4F"/>
                </a:solidFill>
                <a:latin typeface="Calibri"/>
              </a:rPr>
              <a:t>Complementary appraisal methods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5257800" cy="118872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91440" cy="118872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4937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50" b="1" i="0">
                <a:solidFill>
                  <a:srgbClr val="0A6366"/>
                </a:solidFill>
                <a:latin typeface="Calibri"/>
              </a:rPr>
              <a:t>Direct clinical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9377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0" i="0">
                <a:solidFill>
                  <a:srgbClr val="555B63"/>
                </a:solidFill>
                <a:latin typeface="Calibri"/>
              </a:rPr>
              <a:t>Supervisors monitor assessment techniques and nurse–patient interactions during rounds.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10128"/>
            <a:ext cx="5257800" cy="118872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10128"/>
            <a:ext cx="91440" cy="118872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4937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50" b="1" i="0">
                <a:solidFill>
                  <a:srgbClr val="0A6366"/>
                </a:solidFill>
                <a:latin typeface="Calibri"/>
              </a:rPr>
              <a:t>Peer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13048"/>
            <a:ext cx="49377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0" i="0">
                <a:solidFill>
                  <a:srgbClr val="555B63"/>
                </a:solidFill>
                <a:latin typeface="Calibri"/>
              </a:rPr>
              <a:t>Feedback from psychiatrists, psychologists and senior nurses on teamwork and communication.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08576"/>
            <a:ext cx="5257800" cy="118872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608576"/>
            <a:ext cx="91440" cy="1188720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18304"/>
            <a:ext cx="4937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450" b="1" i="0">
                <a:solidFill>
                  <a:srgbClr val="0A6366"/>
                </a:solidFill>
                <a:latin typeface="Calibri"/>
              </a:rPr>
              <a:t>Self-appraisal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11496"/>
            <a:ext cx="49377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0" i="0">
                <a:solidFill>
                  <a:srgbClr val="555B63"/>
                </a:solidFill>
                <a:latin typeface="Calibri"/>
              </a:rPr>
              <a:t>Nurses evaluate their own strengths, weaknesses and professional learning goals.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417320"/>
            <a:ext cx="56692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669280" cy="5943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1417320"/>
            <a:ext cx="566928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Delivering constructive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48840"/>
            <a:ext cx="5166360" cy="3657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Focus on behaviour, not character — review specific clinical actions, not personal judgements.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Be timely &amp; specific — discuss errors soon after they occur for immediate correction.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Use a balanced “sandwich” approach — strengths, then improvement, then an encouraging plan.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Develop a joint action plan — agree training, mentorship or resources to meet standards.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Feedback must be continuous — not only once a year.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4.1 – 4.2 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Training &amp; Continuous Professional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429768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128016" cy="429768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800" b="1" i="0">
                <a:solidFill>
                  <a:srgbClr val="0B2E4F"/>
                </a:solidFill>
                <a:latin typeface="Calibri"/>
              </a:rPr>
              <a:t>The role of staff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93776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32A31"/>
                </a:solidFill>
                <a:latin typeface="Calibri"/>
              </a:rPr>
              <a:t>An organized process to update clinical knowledge, enhance technical skills and improve professional attitudes.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F8B8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32A31"/>
                </a:solidFill>
                <a:latin typeface="Calibri"/>
              </a:rPr>
              <a:t>Essential in mental health nursing because treatment guidelines, psychopharmacological therapies and legal standards are regularly updated.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5486400" cy="4297680"/>
          </a:xfrm>
          <a:prstGeom prst="rect">
            <a:avLst/>
          </a:prstGeom>
          <a:solidFill>
            <a:srgbClr val="0B2E4F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86400" cy="6858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54480"/>
            <a:ext cx="5486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Continuous Professional Development (CPD)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89204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8F3F3"/>
                </a:solidFill>
                <a:latin typeface="Calibri"/>
              </a:rPr>
              <a:t>The National Council of Nurses and Midwives (NCNM) legally mandates CPD credits.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8F3F3"/>
                </a:solidFill>
                <a:latin typeface="Calibri"/>
              </a:rPr>
              <a:t>All licensed nurses — including mental health specialists — must complete annual CPD credits.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8FD3D4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8F3F3"/>
                </a:solidFill>
                <a:latin typeface="Calibri"/>
              </a:rPr>
              <a:t>CPD credits are required to retain the license to practise.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4.3  CAREER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Career Pathways, Mentorship &amp; Succession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00" cy="2057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486400" cy="5669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0292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Academic pathways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2"/>
            <a:ext cx="502920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232A31"/>
                </a:solidFill>
                <a:latin typeface="Calibri"/>
              </a:rPr>
              <a:t>Advanced Diploma → BSc → Master's → specialized doctoral studies in Mental Health Nursing.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486400" cy="2057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486400" cy="5669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50292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Clinical vs. managerial tracks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21992"/>
            <a:ext cx="502920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232A31"/>
                </a:solidFill>
                <a:latin typeface="Calibri"/>
              </a:rPr>
              <a:t>Advanced Clinical Nurse Specialist (psychotherapy, paediatric psychiatry) or Health Services Management (Unit Manager, Nursing Director, Quality Lead).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5486400" cy="2057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5486400" cy="566928"/>
          </a:xfrm>
          <a:prstGeom prst="rect">
            <a:avLst/>
          </a:prstGeom>
          <a:solidFill>
            <a:srgbClr val="0A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50292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Mentorship programs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53712"/>
            <a:ext cx="502920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232A31"/>
                </a:solidFill>
                <a:latin typeface="Calibri"/>
              </a:rPr>
              <a:t>Junior nurses paired with senior practitioners in their first year to build confidence, reduce burnout and transfer clinical wisdom.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5486400" cy="2057400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40480"/>
            <a:ext cx="5486400" cy="56692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40480"/>
            <a:ext cx="50292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Succession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502920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50" b="0" i="0">
                <a:solidFill>
                  <a:srgbClr val="232A31"/>
                </a:solidFill>
                <a:latin typeface="Calibri"/>
              </a:rPr>
              <a:t>Identifying and preparing high-performing nurses to fill leadership roles as senior managers retire or move 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5.  CHALLENGES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Challenges &amp; Recommendations (1 of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1155680" cy="1408176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9875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1" i="0">
                <a:solidFill>
                  <a:srgbClr val="0B2E4F"/>
                </a:solidFill>
                <a:latin typeface="Calibri"/>
              </a:rPr>
              <a:t>Inadequate &amp; uneven staffing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48463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555B63"/>
                </a:solidFill>
                <a:latin typeface="Calibri"/>
              </a:rPr>
              <a:t>Challenge:  </a:t>
            </a:r>
            <a:r>
              <a:rPr sz="1250" b="0" i="0">
                <a:solidFill>
                  <a:srgbClr val="555B63"/>
                </a:solidFill>
                <a:latin typeface="Calibri"/>
              </a:rPr>
              <a:t>Too few nurses for the workload raises burnout and lowers care quality.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993392"/>
            <a:ext cx="73152" cy="7498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4754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0A6366"/>
                </a:solidFill>
                <a:latin typeface="Calibri"/>
              </a:rPr>
              <a:t>Recommendation:  </a:t>
            </a:r>
            <a:r>
              <a:rPr sz="1250" b="0" i="0">
                <a:solidFill>
                  <a:srgbClr val="232A31"/>
                </a:solidFill>
                <a:latin typeface="Calibri"/>
              </a:rPr>
              <a:t>Systematically apply the WISN tool in district-hospital mental health units.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5808"/>
            <a:ext cx="11155680" cy="1408176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64408"/>
            <a:ext cx="640080" cy="64008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45536"/>
            <a:ext cx="9875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1" i="0">
                <a:solidFill>
                  <a:srgbClr val="0B2E4F"/>
                </a:solidFill>
                <a:latin typeface="Calibri"/>
              </a:rPr>
              <a:t>Retention in rural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84448"/>
            <a:ext cx="48463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555B63"/>
                </a:solidFill>
                <a:latin typeface="Calibri"/>
              </a:rPr>
              <a:t>Challenge:  </a:t>
            </a:r>
            <a:r>
              <a:rPr sz="1250" b="0" i="0">
                <a:solidFill>
                  <a:srgbClr val="555B63"/>
                </a:solidFill>
                <a:latin typeface="Calibri"/>
              </a:rPr>
              <a:t>Remote hospitals struggle to attract nurses — limited housing, few development chances.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566160"/>
            <a:ext cx="73152" cy="7498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584448"/>
            <a:ext cx="4754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0A6366"/>
                </a:solidFill>
                <a:latin typeface="Calibri"/>
              </a:rPr>
              <a:t>Recommendation:  </a:t>
            </a:r>
            <a:r>
              <a:rPr sz="1250" b="0" i="0">
                <a:solidFill>
                  <a:srgbClr val="232A31"/>
                </a:solidFill>
                <a:latin typeface="Calibri"/>
              </a:rPr>
              <a:t>Provide hardship &amp; housing allowances and priority sponsored CPD.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08576"/>
            <a:ext cx="11155680" cy="1408176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37176"/>
            <a:ext cx="640080" cy="64008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18304"/>
            <a:ext cx="9875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1" i="0">
                <a:solidFill>
                  <a:srgbClr val="0B2E4F"/>
                </a:solidFill>
                <a:latin typeface="Calibri"/>
              </a:rPr>
              <a:t>Burnout &amp; psychological stress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57216"/>
            <a:ext cx="48463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555B63"/>
                </a:solidFill>
                <a:latin typeface="Calibri"/>
              </a:rPr>
              <a:t>Challenge:  </a:t>
            </a:r>
            <a:r>
              <a:rPr sz="1250" b="0" i="0">
                <a:solidFill>
                  <a:srgbClr val="555B63"/>
                </a:solidFill>
                <a:latin typeface="Calibri"/>
              </a:rPr>
              <a:t>Constant exposure to severe cases causes compassion fatigue and burnout.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5138928"/>
            <a:ext cx="73152" cy="7498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5157216"/>
            <a:ext cx="4754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0A6366"/>
                </a:solidFill>
                <a:latin typeface="Calibri"/>
              </a:rPr>
              <a:t>Recommendation:  </a:t>
            </a:r>
            <a:r>
              <a:rPr sz="1250" b="0" i="0">
                <a:solidFill>
                  <a:srgbClr val="232A31"/>
                </a:solidFill>
                <a:latin typeface="Calibri"/>
              </a:rPr>
              <a:t>Establish clinical debriefing structures and staff wellness programs.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5.  CHALLENGES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Challenges &amp; Recommendations (2 of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1155680" cy="1408176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9875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1" i="0">
                <a:solidFill>
                  <a:srgbClr val="0B2E4F"/>
                </a:solidFill>
                <a:latin typeface="Calibri"/>
              </a:rPr>
              <a:t>Unclear / outdated job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48463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555B63"/>
                </a:solidFill>
                <a:latin typeface="Calibri"/>
              </a:rPr>
              <a:t>Challenge:  </a:t>
            </a:r>
            <a:r>
              <a:rPr sz="1250" b="0" i="0">
                <a:solidFill>
                  <a:srgbClr val="555B63"/>
                </a:solidFill>
                <a:latin typeface="Calibri"/>
              </a:rPr>
              <a:t>Outreach, psychoeducation, follow-up and collaboration are often undefined.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993392"/>
            <a:ext cx="73152" cy="7498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4754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0A6366"/>
                </a:solidFill>
                <a:latin typeface="Calibri"/>
              </a:rPr>
              <a:t>Recommendation:  </a:t>
            </a:r>
            <a:r>
              <a:rPr sz="1250" b="0" i="0">
                <a:solidFill>
                  <a:srgbClr val="232A31"/>
                </a:solidFill>
                <a:latin typeface="Calibri"/>
              </a:rPr>
              <a:t>Regularly review and update job descriptions at every level of the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5808"/>
            <a:ext cx="11155680" cy="1408176"/>
          </a:xfrm>
          <a:prstGeom prst="rect">
            <a:avLst/>
          </a:prstGeom>
          <a:solidFill>
            <a:srgbClr val="F5F9FA"/>
          </a:solidFill>
          <a:ln w="12700">
            <a:solidFill>
              <a:srgbClr val="E8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64408"/>
            <a:ext cx="640080" cy="64008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45536"/>
            <a:ext cx="9875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1" i="0">
                <a:solidFill>
                  <a:srgbClr val="0B2E4F"/>
                </a:solidFill>
                <a:latin typeface="Calibri"/>
              </a:rPr>
              <a:t>Limited access to CPD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84448"/>
            <a:ext cx="48463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555B63"/>
                </a:solidFill>
                <a:latin typeface="Calibri"/>
              </a:rPr>
              <a:t>Challenge:  </a:t>
            </a:r>
            <a:r>
              <a:rPr sz="1250" b="0" i="0">
                <a:solidFill>
                  <a:srgbClr val="555B63"/>
                </a:solidFill>
                <a:latin typeface="Calibri"/>
              </a:rPr>
              <a:t>Rural nurses can rarely leave duties for face-to-face training.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566160"/>
            <a:ext cx="73152" cy="7498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584448"/>
            <a:ext cx="4754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50" b="1" i="0">
                <a:solidFill>
                  <a:srgbClr val="0A6366"/>
                </a:solidFill>
                <a:latin typeface="Calibri"/>
              </a:rPr>
              <a:t>Recommendation:  </a:t>
            </a:r>
            <a:r>
              <a:rPr sz="1250" b="0" i="0">
                <a:solidFill>
                  <a:srgbClr val="232A31"/>
                </a:solidFill>
                <a:latin typeface="Calibri"/>
              </a:rPr>
              <a:t>Expand University of Rwanda / NCNM e-learning for accredited CPD.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19088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00" b="0" i="0">
                <a:solidFill>
                  <a:srgbClr val="555B63"/>
                </a:solidFill>
                <a:latin typeface="Calibri"/>
              </a:rPr>
              <a:t>Human Resource Management in Health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1" i="0">
                <a:solidFill>
                  <a:srgbClr val="0F8B8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1" i="0">
                <a:solidFill>
                  <a:srgbClr val="8FD3D4"/>
                </a:solidFill>
                <a:latin typeface="Calibri"/>
              </a:rPr>
              <a:t>6. 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480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1400"/>
              </a:spcAft>
            </a:pPr>
            <a:r>
              <a:rPr sz="1300" b="1" i="0">
                <a:solidFill>
                  <a:srgbClr val="0F8B8D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Ministry of Health. (2021). Fifth Health Sector Strategic Plan (HSSP V) 2021–2026. Government of Rwanda. moh.gov.rw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0F8B8D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National Institute of Statistics of Rwanda. (2026). Imihigo 2024/25: Evaluation final report. Government of Rwanda. statistics.gov.rw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0F8B8D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Purwadhi, A., Octaviani, P., &amp; Suryandartiwi, W. (2024). Systematic literature review on health human resource management strategies in improving health worker performance. Journal of Health Organization and Management, 38(4), 412–428.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0F8B8D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Sasmita, E. E. (2026). A systematic review of dual pathways and boundary conditions in high-performance work systems in healthcare settings. Cogent Business &amp; Management, 13(1), 2705635.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0F8B8D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32A31"/>
                </a:solidFill>
                <a:latin typeface="Calibri"/>
              </a:rPr>
              <a:t>World Health Organization. (2021). Workload Indicators of Staffing Need (WISN): User manual and implementation guide. WHO. who.int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03504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Thank you  —  Group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